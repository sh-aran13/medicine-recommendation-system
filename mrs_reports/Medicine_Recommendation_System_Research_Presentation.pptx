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Macro F1</c:v>
                </c:pt>
                <c:pt idx="2">
                  <c:v>Top-3</c:v>
                </c:pt>
                <c:pt idx="3">
                  <c:v>W. Precision</c:v>
                </c:pt>
                <c:pt idx="4">
                  <c:v>W. Recall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B-4DF5-A7A4-3143E226B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Medicine Recommendation System</a:t>
            </a:r>
          </a:p>
          <a:p>
            <a:pPr>
              <a:defRPr sz="1600">
                <a:solidFill>
                  <a:srgbClr val="556270"/>
                </a:solidFill>
                <a:latin typeface="Segoe UI"/>
              </a:defRPr>
            </a:pPr>
            <a:r>
              <a:t>Machine Learning-Powered Clinical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8" y="2354580"/>
            <a:ext cx="70408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2824176" y="2778760"/>
            <a:ext cx="5795369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400">
                <a:solidFill>
                  <a:srgbClr val="283444"/>
                </a:solidFill>
                <a:latin typeface="Segoe UI"/>
              </a:defRPr>
            </a:pPr>
            <a:r>
              <a:rPr lang="en-GB" dirty="0"/>
              <a:t>Project</a:t>
            </a:r>
            <a:r>
              <a:rPr dirty="0"/>
              <a:t> Presentation</a:t>
            </a:r>
          </a:p>
          <a:p>
            <a:pPr algn="ctr">
              <a:spcAft>
                <a:spcPts val="1200"/>
              </a:spcAft>
              <a:defRPr sz="2400">
                <a:solidFill>
                  <a:srgbClr val="283444"/>
                </a:solidFill>
                <a:latin typeface="Segoe UI"/>
              </a:defRPr>
            </a:pPr>
            <a:r>
              <a:rPr dirty="0"/>
              <a:t>Project Report | Django + Random Forest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26F79-1884-5B08-73E6-EC691AB701DD}"/>
              </a:ext>
            </a:extLst>
          </p:cNvPr>
          <p:cNvSpPr txBox="1"/>
          <p:nvPr/>
        </p:nvSpPr>
        <p:spPr>
          <a:xfrm>
            <a:off x="2824176" y="4043680"/>
            <a:ext cx="4785664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		Allada Sai Satya Sharan,23VV1A1201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Abstract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887" y="150876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98600" y="2087046"/>
            <a:ext cx="92557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Predicts probable diseases from symptom inputs and provides medication, diet,</a:t>
            </a:r>
            <a:endParaRPr lang="en-GB" dirty="0"/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precautions, and workout guidance.</a:t>
            </a:r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Combines Random Forest inference with a structured medical knowledge base in</a:t>
            </a:r>
            <a:endParaRPr lang="en-GB" dirty="0"/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a Django web application.</a:t>
            </a:r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Performance on held-out test set: Accuracy 1.0000, Macro F1 1.0000, Top-3 1.0000.</a:t>
            </a:r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Designed as educational decision support with clear physician-oversight disclaimer.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Datasets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2194560"/>
            <a:ext cx="50292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Training.csv: 4920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symptoms_df.csv: 4920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medications.csv: 41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description.csv: 41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precautions_df.csv: 41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Symptom-severity.csv: 133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diets.csv: 41 rows</a:t>
            </a:r>
          </a:p>
          <a:p>
            <a:pPr>
              <a:spcAft>
                <a:spcPts val="1200"/>
              </a:spcAft>
              <a:defRPr sz="1600">
                <a:solidFill>
                  <a:srgbClr val="283444"/>
                </a:solidFill>
                <a:latin typeface="Segoe UI"/>
              </a:defRPr>
            </a:pPr>
            <a:r>
              <a:rPr dirty="0"/>
              <a:t>workout_df.csv: 410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477988"/>
            <a:ext cx="44399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Training samples: 4920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Symptom features: 132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Disease classes: 41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Label mismatch check: description.csv: 1;</a:t>
            </a:r>
            <a:r>
              <a:rPr lang="en-GB" dirty="0"/>
              <a:t>	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lang="en-GB" dirty="0"/>
              <a:t>					</a:t>
            </a:r>
            <a:r>
              <a:rPr dirty="0"/>
              <a:t>diets.csv: 1;</a:t>
            </a: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lang="en-GB" dirty="0"/>
              <a:t>					</a:t>
            </a:r>
            <a:r>
              <a:rPr dirty="0"/>
              <a:t>medications.csv: 1</a:t>
            </a:r>
            <a:r>
              <a:rPr lang="en-GB" dirty="0"/>
              <a:t>;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Model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83360" y="2563009"/>
            <a:ext cx="9598910" cy="26161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Algorithm: </a:t>
            </a:r>
            <a:r>
              <a:rPr dirty="0" err="1"/>
              <a:t>RandomForestClassifier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Configuration: </a:t>
            </a:r>
            <a:r>
              <a:rPr dirty="0" err="1"/>
              <a:t>n_estimators</a:t>
            </a:r>
            <a:r>
              <a:rPr dirty="0"/>
              <a:t>=300, </a:t>
            </a:r>
            <a:r>
              <a:rPr dirty="0" err="1"/>
              <a:t>class_weight</a:t>
            </a:r>
            <a:r>
              <a:rPr dirty="0"/>
              <a:t>=</a:t>
            </a:r>
            <a:r>
              <a:rPr dirty="0" err="1"/>
              <a:t>balanced_subsample</a:t>
            </a:r>
            <a:r>
              <a:rPr dirty="0"/>
              <a:t>, </a:t>
            </a:r>
            <a:r>
              <a:rPr dirty="0" err="1"/>
              <a:t>random_state</a:t>
            </a:r>
            <a:r>
              <a:rPr dirty="0"/>
              <a:t>=42,</a:t>
            </a:r>
            <a:endParaRPr lang="en-GB" dirty="0"/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lang="en-IN" dirty="0"/>
              <a:t>																		</a:t>
            </a:r>
            <a:r>
              <a:rPr dirty="0" err="1"/>
              <a:t>n_jobs</a:t>
            </a:r>
            <a:r>
              <a:rPr dirty="0"/>
              <a:t>=-1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Data strategy: stratified 80/20 train-test split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Saved artifacts: model, label encoder, feature columns, severity map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Serving layer: Django endpoint + CSV-driven recommendation enrichment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Accuracy and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663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577840" y="1645920"/>
            <a:ext cx="5943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4206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444"/>
                </a:solidFill>
                <a:latin typeface="Segoe UI"/>
              </a:defRPr>
            </a:pPr>
            <a:r>
              <a:rPr dirty="0"/>
              <a:t>Accuracy: 1.0000</a:t>
            </a:r>
          </a:p>
          <a:p>
            <a:pPr>
              <a:spcAft>
                <a:spcPts val="1200"/>
              </a:spcAft>
              <a:defRPr sz="1700">
                <a:solidFill>
                  <a:srgbClr val="283444"/>
                </a:solidFill>
                <a:latin typeface="Segoe UI"/>
              </a:defRPr>
            </a:pPr>
            <a:r>
              <a:rPr dirty="0"/>
              <a:t>Macro F1: 1.0000</a:t>
            </a:r>
          </a:p>
          <a:p>
            <a:pPr>
              <a:spcAft>
                <a:spcPts val="1200"/>
              </a:spcAft>
              <a:defRPr sz="1700">
                <a:solidFill>
                  <a:srgbClr val="283444"/>
                </a:solidFill>
                <a:latin typeface="Segoe UI"/>
              </a:defRPr>
            </a:pPr>
            <a:r>
              <a:rPr dirty="0"/>
              <a:t>Top-3 Accuracy: 1.0000</a:t>
            </a:r>
          </a:p>
          <a:p>
            <a:pPr>
              <a:spcAft>
                <a:spcPts val="1200"/>
              </a:spcAft>
              <a:defRPr sz="1700">
                <a:solidFill>
                  <a:srgbClr val="283444"/>
                </a:solidFill>
                <a:latin typeface="Segoe UI"/>
              </a:defRPr>
            </a:pPr>
            <a:r>
              <a:rPr dirty="0"/>
              <a:t>Weighted Precision: 1.0000</a:t>
            </a:r>
          </a:p>
          <a:p>
            <a:pPr>
              <a:spcAft>
                <a:spcPts val="1200"/>
              </a:spcAft>
              <a:defRPr sz="1700">
                <a:solidFill>
                  <a:srgbClr val="283444"/>
                </a:solidFill>
                <a:latin typeface="Segoe UI"/>
              </a:defRPr>
            </a:pPr>
            <a:r>
              <a:rPr dirty="0"/>
              <a:t>Weighted Recall: 1.0000</a:t>
            </a:r>
          </a:p>
          <a:p>
            <a:pPr>
              <a:spcAft>
                <a:spcPts val="1200"/>
              </a:spcAft>
              <a:defRPr sz="1700">
                <a:solidFill>
                  <a:srgbClr val="283444"/>
                </a:solidFill>
                <a:latin typeface="Segoe UI"/>
              </a:defRPr>
            </a:pPr>
            <a:r>
              <a:rPr dirty="0"/>
              <a:t>Test samples: 984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897880" y="201168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Output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624316"/>
            <a:ext cx="9576148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Input symptoms: </a:t>
            </a:r>
            <a:r>
              <a:rPr dirty="0" err="1"/>
              <a:t>chest_pain</a:t>
            </a:r>
            <a:r>
              <a:rPr dirty="0"/>
              <a:t>, dizziness, </a:t>
            </a:r>
            <a:r>
              <a:rPr dirty="0" err="1"/>
              <a:t>loss_of_balance</a:t>
            </a:r>
            <a:r>
              <a:rPr dirty="0"/>
              <a:t>, </a:t>
            </a:r>
            <a:r>
              <a:rPr dirty="0" err="1"/>
              <a:t>lack_of_concentration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Predicted disease: Hypertension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Actual disease in test sample: Hypertension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Top-3 candidates: Hypertension (100.0%); Varicose veins (0.0%); Urinary tract infection (0.0%)</a:t>
            </a:r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UI output includes confidence, disease description, medication list, precautions, diet,</a:t>
            </a:r>
            <a:endParaRPr lang="en-GB" dirty="0"/>
          </a:p>
          <a:p>
            <a:pPr>
              <a:spcAft>
                <a:spcPts val="1200"/>
              </a:spcAft>
              <a:defRPr sz="1800">
                <a:solidFill>
                  <a:srgbClr val="283444"/>
                </a:solidFill>
                <a:latin typeface="Segoe UI"/>
              </a:defRPr>
            </a:pPr>
            <a:r>
              <a:rPr dirty="0"/>
              <a:t>and workout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System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06728" y="2651760"/>
            <a:ext cx="101498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Patient enters age, gender, and symptoms on web form.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Backend converts symptoms to binary feature vector.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Random Forest predicts disease and confidence scores.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Knowledge base maps disease to medications, precautions, diet, and workouts.</a:t>
            </a:r>
          </a:p>
          <a:p>
            <a:pPr>
              <a:spcAft>
                <a:spcPts val="1200"/>
              </a:spcAft>
              <a:defRPr sz="1900">
                <a:solidFill>
                  <a:srgbClr val="283444"/>
                </a:solidFill>
                <a:latin typeface="Segoe UI"/>
              </a:defRPr>
            </a:pPr>
            <a:r>
              <a:rPr dirty="0"/>
              <a:t>Result page / JSON response presents complete recommendation 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F294D"/>
                </a:solidFill>
                <a:latin typeface="Segoe UI Semibold"/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10080" y="2378095"/>
            <a:ext cx="8636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MRS demonstrates an end-to-end ML + web recommendation pipeline with</a:t>
            </a:r>
            <a:r>
              <a:rPr lang="en-GB" dirty="0"/>
              <a:t> </a:t>
            </a:r>
            <a:r>
              <a:rPr dirty="0"/>
              <a:t>reproducible artifacts.</a:t>
            </a:r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The system achieves strong benchmark performance on the current dataset.</a:t>
            </a:r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Future work: external validation, calibration studies, and expanded clinical features.</a:t>
            </a:r>
          </a:p>
          <a:p>
            <a:pPr>
              <a:spcAft>
                <a:spcPts val="1200"/>
              </a:spcAft>
              <a:defRPr sz="2000">
                <a:solidFill>
                  <a:srgbClr val="283444"/>
                </a:solidFill>
                <a:latin typeface="Segoe UI"/>
              </a:defRPr>
            </a:pPr>
            <a:r>
              <a:rPr dirty="0"/>
              <a:t>Use case: educational and preliminary triage support, not a replacement for clinical diagnosis.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473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Sharan Allada</cp:lastModifiedBy>
  <cp:revision>3</cp:revision>
  <dcterms:created xsi:type="dcterms:W3CDTF">2013-01-27T09:14:16Z</dcterms:created>
  <dcterms:modified xsi:type="dcterms:W3CDTF">2026-03-26T07:14:43Z</dcterms:modified>
  <cp:category/>
</cp:coreProperties>
</file>